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227"/>
    <a:srgbClr val="EE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FFEB8-0A44-418E-AFED-BC19225C099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267F1-0A8E-4E93-9FE4-38D942B221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785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267F1-0A8E-4E93-9FE4-38D942B2216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14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00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26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49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47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03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94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67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6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09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19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A3699-639B-49E8-86DE-5B8F18443622}" type="datetimeFigureOut">
              <a:rPr lang="ru-RU" smtClean="0"/>
              <a:t>01.11.2026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7DDFE-C0B4-4979-A28B-C22665EDEB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52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4" b="3518"/>
          <a:stretch/>
        </p:blipFill>
        <p:spPr>
          <a:xfrm>
            <a:off x="0" y="0"/>
            <a:ext cx="12192000" cy="60706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2756"/>
            <a:ext cx="3705225" cy="194524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705225" y="4912756"/>
            <a:ext cx="8486775" cy="1945244"/>
          </a:xfrm>
          <a:prstGeom prst="rect">
            <a:avLst/>
          </a:prstGeom>
          <a:solidFill>
            <a:srgbClr val="EEF0F2"/>
          </a:solidFill>
          <a:ln>
            <a:solidFill>
              <a:srgbClr val="EEF0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895725" y="5146714"/>
            <a:ext cx="56197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Comic Sans MS" panose="030F0702030302020204" pitchFamily="66" charset="0"/>
              </a:rPr>
              <a:t>Сайт и сквозная аналитика заявок для </a:t>
            </a:r>
            <a:r>
              <a:rPr lang="ru-RU" b="1" dirty="0" err="1">
                <a:latin typeface="Comic Sans MS" panose="030F0702030302020204" pitchFamily="66" charset="0"/>
              </a:rPr>
              <a:t>шиномонтажа</a:t>
            </a:r>
            <a:r>
              <a:rPr lang="ru-RU" b="1" dirty="0">
                <a:latin typeface="Comic Sans MS" panose="030F0702030302020204" pitchFamily="66" charset="0"/>
              </a:rPr>
              <a:t> «КОЛЕСО </a:t>
            </a:r>
            <a:r>
              <a:rPr lang="ru-RU" b="1" dirty="0" smtClean="0">
                <a:latin typeface="Comic Sans MS" panose="030F0702030302020204" pitchFamily="66" charset="0"/>
              </a:rPr>
              <a:t>21»</a:t>
            </a:r>
            <a:r>
              <a:rPr lang="en-US" dirty="0" smtClean="0">
                <a:latin typeface="Comic Sans MS" panose="030F0702030302020204" pitchFamily="66" charset="0"/>
              </a:rPr>
              <a:t>,</a:t>
            </a:r>
            <a:r>
              <a:rPr lang="ru-RU" dirty="0">
                <a:latin typeface="Comic Sans MS" panose="030F0702030302020204" pitchFamily="66" charset="0"/>
              </a:rPr>
              <a:t> ТЗ № ТЗ-21/2026</a:t>
            </a:r>
          </a:p>
          <a:p>
            <a:endParaRPr lang="ru-RU" b="0" i="0" dirty="0" smtClean="0">
              <a:solidFill>
                <a:srgbClr val="0F1115"/>
              </a:solidFill>
              <a:effectLst/>
              <a:latin typeface="Comic Sans MS" panose="030F0702030302020204" pitchFamily="66" charset="0"/>
            </a:endParaRPr>
          </a:p>
          <a:p>
            <a:r>
              <a:rPr lang="ru-RU" dirty="0" err="1" smtClean="0">
                <a:solidFill>
                  <a:srgbClr val="0F1115"/>
                </a:solidFill>
                <a:latin typeface="Comic Sans MS" panose="030F0702030302020204" pitchFamily="66" charset="0"/>
              </a:rPr>
              <a:t>Станчинская</a:t>
            </a:r>
            <a:r>
              <a:rPr lang="ru-RU" dirty="0" smtClean="0">
                <a:solidFill>
                  <a:srgbClr val="0F1115"/>
                </a:solidFill>
                <a:latin typeface="Comic Sans MS" panose="030F0702030302020204" pitchFamily="66" charset="0"/>
              </a:rPr>
              <a:t> Соня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Comic Sans MS" panose="030F0702030302020204" pitchFamily="66" charset="0"/>
              </a:rPr>
              <a:t>, </a:t>
            </a:r>
            <a:r>
              <a:rPr lang="ru-RU" dirty="0">
                <a:latin typeface="Comic Sans MS" panose="030F0702030302020204" pitchFamily="66" charset="0"/>
              </a:rPr>
              <a:t>РПО </a:t>
            </a:r>
            <a:r>
              <a:rPr lang="ru-RU" dirty="0" smtClean="0">
                <a:latin typeface="Comic Sans MS" panose="030F0702030302020204" pitchFamily="66" charset="0"/>
              </a:rPr>
              <a:t>25/9/3</a:t>
            </a:r>
            <a:r>
              <a:rPr lang="en-US" dirty="0" smtClean="0">
                <a:solidFill>
                  <a:srgbClr val="0F1115"/>
                </a:solidFill>
                <a:latin typeface="Comic Sans MS" panose="030F0702030302020204" pitchFamily="66" charset="0"/>
              </a:rPr>
              <a:t>, </a:t>
            </a:r>
            <a:r>
              <a:rPr lang="ru-RU" b="1" dirty="0" smtClean="0">
                <a:latin typeface="Comic Sans MS" panose="030F0702030302020204" pitchFamily="66" charset="0"/>
              </a:rPr>
              <a:t>«</a:t>
            </a:r>
            <a:r>
              <a:rPr lang="ru-RU" b="1" dirty="0" smtClean="0">
                <a:latin typeface="Comic Sans MS" panose="030F0702030302020204" pitchFamily="66" charset="0"/>
              </a:rPr>
              <a:t>Информационные Технологии</a:t>
            </a:r>
            <a:r>
              <a:rPr lang="ru-RU" b="1" dirty="0" smtClean="0">
                <a:latin typeface="Comic Sans MS" panose="030F0702030302020204" pitchFamily="66" charset="0"/>
              </a:rPr>
              <a:t>»</a:t>
            </a:r>
            <a:endParaRPr lang="ru-RU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596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296020" y="2277570"/>
            <a:ext cx="2857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3 часа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 очереди в пик сезона </a:t>
            </a:r>
            <a:r>
              <a:rPr lang="ru-RU" sz="2400" b="0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2025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года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516673" y="2250275"/>
            <a:ext cx="28384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50 000 ₽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 в месяц на продвижение без понимания, что работает</a:t>
            </a:r>
            <a:endParaRPr lang="ru-RU" sz="2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970027" y="2277570"/>
            <a:ext cx="27110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100%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 записей велись вручную в переписках (пересечения по времени)</a:t>
            </a:r>
            <a:endParaRPr lang="ru-RU" sz="2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12379" y="987528"/>
            <a:ext cx="62263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effectLst/>
                <a:latin typeface="Segoe Script" panose="030B0504020000000003" pitchFamily="66" charset="0"/>
              </a:rPr>
              <a:t>Проблема заказчика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5555273" y="4798718"/>
            <a:ext cx="1228725" cy="1190723"/>
          </a:xfrm>
          <a:prstGeom prst="rect">
            <a:avLst/>
          </a:prstGeom>
        </p:spPr>
      </p:pic>
      <p:cxnSp>
        <p:nvCxnSpPr>
          <p:cNvPr id="13" name="Прямая соединительная линия 12"/>
          <p:cNvCxnSpPr/>
          <p:nvPr/>
        </p:nvCxnSpPr>
        <p:spPr>
          <a:xfrm>
            <a:off x="1592873" y="4570535"/>
            <a:ext cx="93440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42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788214" y="840441"/>
            <a:ext cx="47628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Segoe Script" panose="030B0504020000000003" pitchFamily="66" charset="0"/>
              </a:rPr>
              <a:t>С</a:t>
            </a:r>
            <a:r>
              <a:rPr lang="ru-RU" sz="4000" b="1" dirty="0" smtClean="0">
                <a:solidFill>
                  <a:schemeClr val="bg1"/>
                </a:solidFill>
                <a:effectLst/>
                <a:latin typeface="Segoe Script" panose="030B0504020000000003" pitchFamily="66" charset="0"/>
              </a:rPr>
              <a:t>хема решения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5555273" y="4798718"/>
            <a:ext cx="1228725" cy="1190723"/>
          </a:xfrm>
          <a:prstGeom prst="rect">
            <a:avLst/>
          </a:prstGeom>
        </p:spPr>
      </p:pic>
      <p:cxnSp>
        <p:nvCxnSpPr>
          <p:cNvPr id="13" name="Прямая соединительная линия 12"/>
          <p:cNvCxnSpPr/>
          <p:nvPr/>
        </p:nvCxnSpPr>
        <p:spPr>
          <a:xfrm>
            <a:off x="1592873" y="4570535"/>
            <a:ext cx="93440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50" y="1931359"/>
            <a:ext cx="11063912" cy="190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0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9" t="8193" r="1074" b="20586"/>
          <a:stretch/>
        </p:blipFill>
        <p:spPr>
          <a:xfrm>
            <a:off x="2136458" y="0"/>
            <a:ext cx="9643166" cy="38906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8" t="44508" r="15337" b="-725"/>
          <a:stretch/>
        </p:blipFill>
        <p:spPr>
          <a:xfrm>
            <a:off x="7503460" y="4043850"/>
            <a:ext cx="4276164" cy="241150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7" t="41184" r="20378" b="1831"/>
          <a:stretch/>
        </p:blipFill>
        <p:spPr>
          <a:xfrm>
            <a:off x="3743277" y="4043850"/>
            <a:ext cx="3612777" cy="236851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72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1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412"/>
            <a:ext cx="5975009" cy="408790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964" y="0"/>
            <a:ext cx="6087035" cy="469115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235" y="4787153"/>
            <a:ext cx="7887766" cy="207084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331578" y="5067658"/>
            <a:ext cx="1228725" cy="119072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1519377" y="5067658"/>
            <a:ext cx="1228725" cy="119072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2673574" y="5067658"/>
            <a:ext cx="1228725" cy="119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8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7512512" y="591439"/>
            <a:ext cx="39132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Путь заявки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8863451" y="5581552"/>
            <a:ext cx="1228725" cy="119072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2" y="353943"/>
            <a:ext cx="2601808" cy="3490121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>
            <a:off x="3105998" y="3200399"/>
            <a:ext cx="412534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94"/>
          <a:stretch/>
        </p:blipFill>
        <p:spPr>
          <a:xfrm>
            <a:off x="349992" y="3844064"/>
            <a:ext cx="2603894" cy="279072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559" y="2114781"/>
            <a:ext cx="2995477" cy="477880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6"/>
          <a:srcRect l="1466"/>
          <a:stretch/>
        </p:blipFill>
        <p:spPr>
          <a:xfrm>
            <a:off x="3695700" y="-1398402"/>
            <a:ext cx="2995336" cy="4310534"/>
          </a:xfrm>
          <a:prstGeom prst="rect">
            <a:avLst/>
          </a:prstGeom>
        </p:spPr>
      </p:pic>
      <p:cxnSp>
        <p:nvCxnSpPr>
          <p:cNvPr id="14" name="Прямая со стрелкой 13"/>
          <p:cNvCxnSpPr/>
          <p:nvPr/>
        </p:nvCxnSpPr>
        <p:spPr>
          <a:xfrm>
            <a:off x="6830273" y="3200399"/>
            <a:ext cx="456441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7"/>
          <a:srcRect l="73184"/>
          <a:stretch/>
        </p:blipFill>
        <p:spPr>
          <a:xfrm>
            <a:off x="7722802" y="3200399"/>
            <a:ext cx="3510025" cy="562053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7"/>
          <a:srcRect r="72291"/>
          <a:stretch/>
        </p:blipFill>
        <p:spPr>
          <a:xfrm>
            <a:off x="7709021" y="1864333"/>
            <a:ext cx="3626853" cy="562053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7"/>
          <a:srcRect l="40024" r="26738"/>
          <a:stretch/>
        </p:blipFill>
        <p:spPr>
          <a:xfrm>
            <a:off x="7347159" y="2532366"/>
            <a:ext cx="4350575" cy="562053"/>
          </a:xfrm>
          <a:prstGeom prst="rect">
            <a:avLst/>
          </a:prstGeom>
        </p:spPr>
      </p:pic>
      <p:cxnSp>
        <p:nvCxnSpPr>
          <p:cNvPr id="20" name="Прямая со стрелкой 19"/>
          <p:cNvCxnSpPr/>
          <p:nvPr/>
        </p:nvCxnSpPr>
        <p:spPr>
          <a:xfrm>
            <a:off x="9469138" y="3937615"/>
            <a:ext cx="8677" cy="389008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512" y="4570963"/>
            <a:ext cx="2443252" cy="77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0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772004" y="257766"/>
            <a:ext cx="48333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Автоответы </a:t>
            </a:r>
            <a:r>
              <a:rPr lang="en-US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VK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5345728" y="5133877"/>
            <a:ext cx="1228725" cy="119072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42" y="1313089"/>
            <a:ext cx="3790630" cy="508483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94"/>
          <a:stretch/>
        </p:blipFill>
        <p:spPr>
          <a:xfrm>
            <a:off x="4363437" y="1284968"/>
            <a:ext cx="3193308" cy="3422426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310" y="1284968"/>
            <a:ext cx="4062293" cy="192958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684309" y="3533873"/>
            <a:ext cx="415412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i="0" dirty="0" err="1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BotHelp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 для сообщества ВК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Автоответ на ключевые слова: </a:t>
            </a:r>
            <a:r>
              <a:rPr lang="ru-RU" sz="2400" b="1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«ШИНЫ»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 и </a:t>
            </a:r>
            <a:r>
              <a:rPr lang="ru-RU" sz="2400" b="1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«ХРАНЕНИЕ»</a:t>
            </a:r>
            <a:endParaRPr lang="ru-RU" sz="2400" b="0" i="0" dirty="0" smtClean="0"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Мгновенная выдача ссылок с UTM-метками</a:t>
            </a:r>
            <a:endParaRPr lang="ru-RU" sz="2400" b="0" i="0" dirty="0"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8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772004" y="257766"/>
            <a:ext cx="48333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Автоответы </a:t>
            </a:r>
            <a:r>
              <a:rPr lang="en-US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VK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21" y="1078088"/>
            <a:ext cx="6527565" cy="53798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5" t="41582" r="41267" b="14151"/>
          <a:stretch/>
        </p:blipFill>
        <p:spPr>
          <a:xfrm>
            <a:off x="7744972" y="1078088"/>
            <a:ext cx="3819468" cy="191452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t="3280" r="78253" b="49774"/>
          <a:stretch/>
        </p:blipFill>
        <p:spPr>
          <a:xfrm>
            <a:off x="781050" y="4029075"/>
            <a:ext cx="2466975" cy="203035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0" t="42243" r="40916" b="13490"/>
          <a:stretch/>
        </p:blipFill>
        <p:spPr>
          <a:xfrm>
            <a:off x="7744972" y="4543422"/>
            <a:ext cx="3840698" cy="191452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9040343" y="3172656"/>
            <a:ext cx="1228725" cy="119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6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514829" y="459157"/>
            <a:ext cx="51347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Аналитика </a:t>
            </a:r>
            <a:r>
              <a:rPr lang="en-US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GA4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66" t="28853" r="-391" b="33903"/>
          <a:stretch/>
        </p:blipFill>
        <p:spPr>
          <a:xfrm>
            <a:off x="686344" y="1587279"/>
            <a:ext cx="3546945" cy="317075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1" t="60417" r="64286" b="29720"/>
          <a:stretch/>
        </p:blipFill>
        <p:spPr>
          <a:xfrm>
            <a:off x="686344" y="5009452"/>
            <a:ext cx="3484301" cy="93414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5637181" y="5476525"/>
            <a:ext cx="4773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Не обновился новыми данными </a:t>
            </a:r>
            <a:r>
              <a:rPr 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:(</a:t>
            </a:r>
            <a:r>
              <a:rPr lang="ru-RU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/>
            </a:r>
            <a:br>
              <a:rPr lang="ru-RU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ru-RU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Далее </a:t>
            </a:r>
            <a:r>
              <a:rPr lang="ru-RU" sz="16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дашборд</a:t>
            </a:r>
            <a:r>
              <a:rPr lang="ru-RU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– в нем более точные данные</a:t>
            </a:r>
            <a:endParaRPr lang="ru-RU" sz="1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flipH="1" flipV="1">
            <a:off x="4426201" y="4867275"/>
            <a:ext cx="1031624" cy="771525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4942013" y="1613624"/>
            <a:ext cx="68256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20 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событий (</a:t>
            </a:r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14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собственных)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7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пользовательских параметров (</a:t>
            </a:r>
            <a:r>
              <a:rPr lang="ru-RU" sz="2400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button_name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</a:t>
            </a:r>
            <a:r>
              <a:rPr lang="ru-RU" sz="2400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rim_size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</a:t>
            </a:r>
            <a:r>
              <a:rPr lang="ru-RU" sz="2400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car_type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и др.)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Ключевые события: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generate_lead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contact_click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messenger_click</a:t>
            </a:r>
            <a:endParaRPr lang="ru-RU" sz="24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Источники трафика: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Direct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Telegram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VK</a:t>
            </a:r>
            <a:endParaRPr lang="ru-RU" sz="2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246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3422802" y="668305"/>
            <a:ext cx="1228725" cy="119072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34517" y="601948"/>
            <a:ext cx="303480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Воронка </a:t>
            </a:r>
          </a:p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конверсии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4517" y="2296132"/>
            <a:ext cx="371251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Наибольшая потеря — между </a:t>
            </a:r>
            <a:r>
              <a:rPr lang="ru-RU" sz="2400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page_view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и </a:t>
            </a:r>
            <a:r>
              <a:rPr lang="en-US" sz="2400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generate_lead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(пользователи изучают цены)</a:t>
            </a:r>
          </a:p>
          <a:p>
            <a:pPr algn="just"/>
            <a:endParaRPr lang="ru-RU" sz="2400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just"/>
            <a:endParaRPr lang="ru-RU" sz="24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just"/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Конверсия в заявку на мобильных устройствах — </a:t>
            </a:r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80%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27" r="1955"/>
          <a:stretch/>
        </p:blipFill>
        <p:spPr>
          <a:xfrm>
            <a:off x="4714875" y="601948"/>
            <a:ext cx="6987342" cy="547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10120218" y="4370554"/>
            <a:ext cx="1228725" cy="119072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487767" y="4611973"/>
            <a:ext cx="26324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 smtClean="0">
                <a:solidFill>
                  <a:schemeClr val="bg1"/>
                </a:solidFill>
                <a:latin typeface="Segoe Script" panose="030B0504020000000003" pitchFamily="66" charset="0"/>
              </a:rPr>
              <a:t>Дашборд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5" t="40972" r="11421" b="22497"/>
          <a:stretch/>
        </p:blipFill>
        <p:spPr>
          <a:xfrm>
            <a:off x="357333" y="1028446"/>
            <a:ext cx="5143021" cy="277198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520" y="1028446"/>
            <a:ext cx="6154009" cy="30484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6" t="76751" r="11210"/>
          <a:stretch/>
        </p:blipFill>
        <p:spPr>
          <a:xfrm>
            <a:off x="357333" y="3965822"/>
            <a:ext cx="5143021" cy="174628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6248092" y="4370554"/>
            <a:ext cx="1228725" cy="119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92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516673" y="2143124"/>
            <a:ext cx="318816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Заявки теряются в переписках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Источник клиента неизвестен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Бюджет «по ощущениям»</a:t>
            </a:r>
            <a:endParaRPr lang="ru-RU" sz="2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982418" y="642001"/>
            <a:ext cx="61654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effectLst/>
                <a:latin typeface="Segoe Script" panose="030B0504020000000003" pitchFamily="66" charset="0"/>
              </a:rPr>
              <a:t>Что получил бизнес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9708173" y="4896126"/>
            <a:ext cx="1228725" cy="1190723"/>
          </a:xfrm>
          <a:prstGeom prst="rect">
            <a:avLst/>
          </a:prstGeom>
        </p:spPr>
      </p:pic>
      <p:cxnSp>
        <p:nvCxnSpPr>
          <p:cNvPr id="13" name="Прямая соединительная линия 12"/>
          <p:cNvCxnSpPr/>
          <p:nvPr/>
        </p:nvCxnSpPr>
        <p:spPr>
          <a:xfrm>
            <a:off x="1592873" y="4570535"/>
            <a:ext cx="93440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9309529" y="150921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СТАЛО</a:t>
            </a:r>
            <a:r>
              <a:rPr lang="en-US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endParaRPr lang="ru-RU" sz="28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516673" y="1533095"/>
            <a:ext cx="1494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БЫЛО</a:t>
            </a:r>
            <a:r>
              <a:rPr lang="en-US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endParaRPr lang="ru-RU" sz="28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53125" y="2161232"/>
            <a:ext cx="49837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Все заявки в </a:t>
            </a:r>
            <a:r>
              <a:rPr lang="ru-RU" sz="2400" b="0" i="0" dirty="0" err="1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Google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Таблице со статусами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У каждой заявки есть канал (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source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medium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Дашборд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показывает заявки по каждому каналу</a:t>
            </a:r>
            <a:endParaRPr lang="ru-RU" sz="2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16673" y="4817865"/>
            <a:ext cx="85457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Рекомендация: 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Перенести часть бюджета на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таргет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ВКонтакте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так как воронка показывает высокую конверсию из этого канала.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1646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468193" y="575326"/>
            <a:ext cx="52950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Как помогал ИИ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9774848" y="4802997"/>
            <a:ext cx="1228725" cy="1190723"/>
          </a:xfrm>
          <a:prstGeom prst="rect">
            <a:avLst/>
          </a:prstGeom>
        </p:spPr>
      </p:pic>
      <p:cxnSp>
        <p:nvCxnSpPr>
          <p:cNvPr id="13" name="Прямая соединительная линия 12"/>
          <p:cNvCxnSpPr/>
          <p:nvPr/>
        </p:nvCxnSpPr>
        <p:spPr>
          <a:xfrm>
            <a:off x="1592873" y="4570535"/>
            <a:ext cx="93440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1587013" y="4928934"/>
            <a:ext cx="59095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Не получилось: 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регистрация в </a:t>
            </a:r>
            <a:r>
              <a:rPr lang="ru-RU" sz="2400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Instagram</a:t>
            </a:r>
            <a:r>
              <a:rPr lang="ru-RU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(заменено на ВК)</a:t>
            </a:r>
            <a:endParaRPr lang="ru-RU" sz="2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516673" y="2143124"/>
            <a:ext cx="39221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генерация </a:t>
            </a:r>
            <a:r>
              <a:rPr lang="en-US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HTML/CSS, 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написание </a:t>
            </a:r>
            <a:r>
              <a:rPr lang="en-US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JS (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калькулятор, </a:t>
            </a:r>
            <a:r>
              <a:rPr lang="ru-RU" sz="2400" b="0" i="0" dirty="0" err="1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валидация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), помощь с </a:t>
            </a:r>
            <a:r>
              <a:rPr lang="en-US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Google Apps Script.</a:t>
            </a:r>
            <a:endParaRPr lang="en-US" sz="2400" b="0" i="0" dirty="0" smtClean="0"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777752" y="1533890"/>
            <a:ext cx="39709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Ручное исправление</a:t>
            </a:r>
            <a:r>
              <a:rPr lang="en-US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endParaRPr lang="ru-RU" sz="28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840523" y="1555924"/>
            <a:ext cx="3717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ИИ (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V0/</a:t>
            </a:r>
            <a:r>
              <a:rPr lang="en-US" sz="2800" b="1" i="0" dirty="0" err="1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Deepseek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): 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953125" y="2161232"/>
            <a:ext cx="49837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настройка CORS для отправки формы, перенос логики сохранения UTM-меток в main.js (чтобы не терялись при переходе).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sz="2400" b="0" i="0" dirty="0" smtClean="0"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71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4876642" y="343720"/>
            <a:ext cx="24240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Ссылки</a:t>
            </a:r>
            <a:endParaRPr lang="ru-RU" sz="4000" b="1" dirty="0">
              <a:solidFill>
                <a:schemeClr val="bg1"/>
              </a:solidFill>
              <a:effectLst/>
              <a:latin typeface="Segoe Script" panose="030B0504020000000003" pitchFamily="66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14268" r="70573" b="39105"/>
          <a:stretch/>
        </p:blipFill>
        <p:spPr>
          <a:xfrm>
            <a:off x="2712110" y="2941212"/>
            <a:ext cx="1228725" cy="1190723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1228567" y="5358963"/>
            <a:ext cx="450796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Таблица заявок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ru-RU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</a:t>
            </a:r>
            <a:endParaRPr lang="en-US" sz="2800" b="1" i="0" dirty="0" smtClean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r>
              <a:rPr lang="en-US" sz="28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https://clck.ru/3WoA42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</a:t>
            </a:r>
            <a:endParaRPr lang="ru-RU" sz="2800" b="1" dirty="0">
              <a:solidFill>
                <a:srgbClr val="FF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704" y="2882147"/>
            <a:ext cx="3733800" cy="37338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228567" y="1735551"/>
            <a:ext cx="1020984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Репозиторий</a:t>
            </a:r>
            <a:r>
              <a:rPr lang="ru-RU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GitHub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ru-RU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</a:t>
            </a:r>
            <a:endParaRPr lang="en-US" sz="2800" b="1" i="0" dirty="0" smtClean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r>
              <a:rPr lang="en-US" sz="28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https://github.com/sonikoku/tz-21-shinomontazh-koleso21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1228567" y="4383489"/>
            <a:ext cx="448552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Дашборд</a:t>
            </a:r>
            <a:r>
              <a:rPr lang="ru-RU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DataLens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ru-RU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</a:t>
            </a:r>
            <a:endParaRPr lang="en-US" sz="2800" b="1" i="0" dirty="0" smtClean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r>
              <a:rPr lang="en-US" sz="28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https://clck.ru/3WoA4e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1228567" y="1177831"/>
            <a:ext cx="100238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Сайт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ru-RU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 </a:t>
            </a:r>
            <a:r>
              <a:rPr lang="en-US" sz="2800" b="0" i="0" dirty="0" smtClean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https://tz-21-shinomentazh-koleso21.vercel.app/</a:t>
            </a:r>
            <a:r>
              <a:rPr lang="en-US" sz="2800" b="1" i="0" dirty="0" smtClean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</a:t>
            </a:r>
            <a:endParaRPr lang="ru-R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5780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CFCF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CFCF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251</Words>
  <Application>Microsoft Office PowerPoint</Application>
  <PresentationFormat>Широкоэкранный</PresentationFormat>
  <Paragraphs>55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Comic Sans MS</vt:lpstr>
      <vt:lpstr>Segoe Script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Соня</dc:creator>
  <cp:lastModifiedBy>Соня</cp:lastModifiedBy>
  <cp:revision>18</cp:revision>
  <dcterms:created xsi:type="dcterms:W3CDTF">2026-11-01T05:05:06Z</dcterms:created>
  <dcterms:modified xsi:type="dcterms:W3CDTF">2026-11-01T06:28:18Z</dcterms:modified>
</cp:coreProperties>
</file>